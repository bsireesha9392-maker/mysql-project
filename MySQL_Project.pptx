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8" r:id="rId3"/>
    <p:sldId id="262" r:id="rId4"/>
    <p:sldId id="260" r:id="rId5"/>
    <p:sldId id="261" r:id="rId6"/>
    <p:sldId id="264" r:id="rId7"/>
    <p:sldId id="263" r:id="rId8"/>
    <p:sldId id="265" r:id="rId9"/>
    <p:sldId id="268" r:id="rId10"/>
    <p:sldId id="266" r:id="rId11"/>
    <p:sldId id="267" r:id="rId12"/>
    <p:sldId id="269" r:id="rId13"/>
    <p:sldId id="271" r:id="rId14"/>
    <p:sldId id="270" r:id="rId15"/>
    <p:sldId id="272" r:id="rId16"/>
    <p:sldId id="273" r:id="rId17"/>
    <p:sldId id="259" r:id="rId18"/>
  </p:sldIdLst>
  <p:sldSz cx="12192000" cy="6858000"/>
  <p:notesSz cx="6858000" cy="9144000"/>
  <p:embeddedFontLst>
    <p:embeddedFont>
      <p:font typeface="Libre Baskerville" panose="02000000000000000000" pitchFamily="2"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8322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2" name="TextBox 1">
            <a:extLst>
              <a:ext uri="{FF2B5EF4-FFF2-40B4-BE49-F238E27FC236}">
                <a16:creationId xmlns:a16="http://schemas.microsoft.com/office/drawing/2014/main" id="{CD9F2402-4976-8061-280F-2D60E9CAA85F}"/>
              </a:ext>
            </a:extLst>
          </p:cNvPr>
          <p:cNvSpPr txBox="1"/>
          <p:nvPr/>
        </p:nvSpPr>
        <p:spPr>
          <a:xfrm>
            <a:off x="2015613" y="3765755"/>
            <a:ext cx="839674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MUSIC STORE DATA ANALYSIS</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904460" y="467139"/>
            <a:ext cx="4224131" cy="876679"/>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rgbClr val="FF0000"/>
              </a:buClr>
              <a:buSzPts val="4400"/>
              <a:buFont typeface="Calibri"/>
              <a:buNone/>
            </a:pPr>
            <a:r>
              <a:rPr lang="en-IN" b="1" dirty="0">
                <a:solidFill>
                  <a:schemeClr val="tx1"/>
                </a:solidFill>
                <a:latin typeface="Times New Roman" panose="02020603050405020304" pitchFamily="18" charset="0"/>
                <a:cs typeface="Times New Roman" panose="02020603050405020304" pitchFamily="18" charset="0"/>
              </a:rPr>
              <a:t>Agenda</a:t>
            </a:r>
            <a:endParaRPr b="1" dirty="0">
              <a:solidFill>
                <a:schemeClr val="tx1"/>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About us</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Objective of the Project</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ER Diagram and schema explanation</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SQL query results with screenshots or summaries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Conclusion (Key finding overall) </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Your Experience/Challenges working on SQL – Data Analysis Project.</a:t>
            </a:r>
            <a:endParaRPr sz="2400"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40FD4F6-AAD1-6753-1409-D12853E94805}"/>
              </a:ext>
            </a:extLst>
          </p:cNvPr>
          <p:cNvGraphicFramePr>
            <a:graphicFrameLocks noGrp="1"/>
          </p:cNvGraphicFramePr>
          <p:nvPr>
            <p:extLst>
              <p:ext uri="{D42A27DB-BD31-4B8C-83A1-F6EECF244321}">
                <p14:modId xmlns:p14="http://schemas.microsoft.com/office/powerpoint/2010/main" val="1852212447"/>
              </p:ext>
            </p:extLst>
          </p:nvPr>
        </p:nvGraphicFramePr>
        <p:xfrm>
          <a:off x="2032000" y="678425"/>
          <a:ext cx="8128000" cy="4407802"/>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995568470"/>
                    </a:ext>
                  </a:extLst>
                </a:gridCol>
                <a:gridCol w="1625600">
                  <a:extLst>
                    <a:ext uri="{9D8B030D-6E8A-4147-A177-3AD203B41FA5}">
                      <a16:colId xmlns:a16="http://schemas.microsoft.com/office/drawing/2014/main" val="3574978725"/>
                    </a:ext>
                  </a:extLst>
                </a:gridCol>
                <a:gridCol w="1625600">
                  <a:extLst>
                    <a:ext uri="{9D8B030D-6E8A-4147-A177-3AD203B41FA5}">
                      <a16:colId xmlns:a16="http://schemas.microsoft.com/office/drawing/2014/main" val="1746338808"/>
                    </a:ext>
                  </a:extLst>
                </a:gridCol>
                <a:gridCol w="1625600">
                  <a:extLst>
                    <a:ext uri="{9D8B030D-6E8A-4147-A177-3AD203B41FA5}">
                      <a16:colId xmlns:a16="http://schemas.microsoft.com/office/drawing/2014/main" val="2861769913"/>
                    </a:ext>
                  </a:extLst>
                </a:gridCol>
                <a:gridCol w="1625600">
                  <a:extLst>
                    <a:ext uri="{9D8B030D-6E8A-4147-A177-3AD203B41FA5}">
                      <a16:colId xmlns:a16="http://schemas.microsoft.com/office/drawing/2014/main" val="471647030"/>
                    </a:ext>
                  </a:extLst>
                </a:gridCol>
              </a:tblGrid>
              <a:tr h="786581">
                <a:tc>
                  <a:txBody>
                    <a:bodyPr/>
                    <a:lstStyle/>
                    <a:p>
                      <a:pPr algn="just"/>
                      <a:r>
                        <a:rPr lang="en-US" dirty="0"/>
                        <a:t>        </a:t>
                      </a:r>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 Graduation</a:t>
                      </a:r>
                      <a:endParaRPr lang="en-IN" dirty="0"/>
                    </a:p>
                  </a:txBody>
                  <a:tcPr/>
                </a:tc>
                <a:tc>
                  <a:txBody>
                    <a:bodyPr/>
                    <a:lstStyle/>
                    <a:p>
                      <a:r>
                        <a:rPr lang="en-US" dirty="0"/>
                        <a:t>Work Experience</a:t>
                      </a:r>
                      <a:endParaRPr lang="en-IN" dirty="0"/>
                    </a:p>
                  </a:txBody>
                  <a:tcPr/>
                </a:tc>
                <a:tc>
                  <a:txBody>
                    <a:bodyPr/>
                    <a:lstStyle/>
                    <a:p>
                      <a:r>
                        <a:rPr lang="en-US" dirty="0"/>
                        <a:t> </a:t>
                      </a:r>
                      <a:r>
                        <a:rPr lang="en-US" dirty="0" err="1"/>
                        <a:t>Linkedin</a:t>
                      </a:r>
                      <a:r>
                        <a:rPr lang="en-US" dirty="0"/>
                        <a:t> URL</a:t>
                      </a:r>
                      <a:endParaRPr lang="en-IN" dirty="0"/>
                    </a:p>
                  </a:txBody>
                  <a:tcPr/>
                </a:tc>
                <a:tc>
                  <a:txBody>
                    <a:bodyPr/>
                    <a:lstStyle/>
                    <a:p>
                      <a:r>
                        <a:rPr lang="en-US" dirty="0" err="1"/>
                        <a:t>Github</a:t>
                      </a:r>
                      <a:r>
                        <a:rPr lang="en-US" dirty="0"/>
                        <a:t> URL</a:t>
                      </a:r>
                      <a:endParaRPr lang="en-IN" dirty="0"/>
                    </a:p>
                  </a:txBody>
                  <a:tcPr/>
                </a:tc>
                <a:extLst>
                  <a:ext uri="{0D108BD9-81ED-4DB2-BD59-A6C34878D82A}">
                    <a16:rowId xmlns:a16="http://schemas.microsoft.com/office/drawing/2014/main" val="3249943282"/>
                  </a:ext>
                </a:extLst>
              </a:tr>
              <a:tr h="786581">
                <a:tc>
                  <a:txBody>
                    <a:bodyPr/>
                    <a:lstStyle/>
                    <a:p>
                      <a:r>
                        <a:rPr lang="en-US" dirty="0"/>
                        <a:t>Dasari Prasanna</a:t>
                      </a:r>
                      <a:endParaRPr lang="en-IN" dirty="0"/>
                    </a:p>
                  </a:txBody>
                  <a:tcPr/>
                </a:tc>
                <a:tc>
                  <a:txBody>
                    <a:bodyPr/>
                    <a:lstStyle/>
                    <a:p>
                      <a:r>
                        <a:rPr lang="en-US" dirty="0" err="1"/>
                        <a:t>B.Tech</a:t>
                      </a:r>
                      <a:endParaRPr lang="en-IN" dirty="0"/>
                    </a:p>
                  </a:txBody>
                  <a:tcPr/>
                </a:tc>
                <a:tc>
                  <a:txBody>
                    <a:bodyPr/>
                    <a:lstStyle/>
                    <a:p>
                      <a:r>
                        <a:rPr lang="en-US" dirty="0"/>
                        <a:t>Fresher</a:t>
                      </a:r>
                      <a:endParaRPr lang="en-IN" dirty="0"/>
                    </a:p>
                  </a:txBody>
                  <a:tcPr/>
                </a:tc>
                <a:tc>
                  <a:txBody>
                    <a:bodyPr/>
                    <a:lstStyle/>
                    <a:p>
                      <a:r>
                        <a:rPr lang="en-IN" dirty="0"/>
                        <a:t>linkedin.com/in/prasanna-dasari-2bb046307</a:t>
                      </a:r>
                    </a:p>
                  </a:txBody>
                  <a:tcPr/>
                </a:tc>
                <a:tc>
                  <a:txBody>
                    <a:bodyPr/>
                    <a:lstStyle/>
                    <a:p>
                      <a:r>
                        <a:rPr lang="en-IN" dirty="0"/>
                        <a:t>https://github.com/prasannadasari356</a:t>
                      </a:r>
                    </a:p>
                  </a:txBody>
                  <a:tcPr/>
                </a:tc>
                <a:extLst>
                  <a:ext uri="{0D108BD9-81ED-4DB2-BD59-A6C34878D82A}">
                    <a16:rowId xmlns:a16="http://schemas.microsoft.com/office/drawing/2014/main" val="2066678106"/>
                  </a:ext>
                </a:extLst>
              </a:tr>
              <a:tr h="786581">
                <a:tc>
                  <a:txBody>
                    <a:bodyPr/>
                    <a:lstStyle/>
                    <a:p>
                      <a:r>
                        <a:rPr lang="en-US" dirty="0"/>
                        <a:t>Gaddam Pravallika</a:t>
                      </a:r>
                      <a:endParaRPr lang="en-IN" dirty="0"/>
                    </a:p>
                  </a:txBody>
                  <a:tcPr/>
                </a:tc>
                <a:tc>
                  <a:txBody>
                    <a:bodyPr/>
                    <a:lstStyle/>
                    <a:p>
                      <a:r>
                        <a:rPr lang="en-US" dirty="0" err="1"/>
                        <a:t>B.Tech</a:t>
                      </a:r>
                      <a:endParaRPr lang="en-IN" dirty="0"/>
                    </a:p>
                  </a:txBody>
                  <a:tcPr/>
                </a:tc>
                <a:tc>
                  <a:txBody>
                    <a:bodyPr/>
                    <a:lstStyle/>
                    <a:p>
                      <a:r>
                        <a:rPr lang="en-US" dirty="0"/>
                        <a:t>Fresher</a:t>
                      </a:r>
                      <a:endParaRPr lang="en-IN" dirty="0"/>
                    </a:p>
                  </a:txBody>
                  <a:tcPr/>
                </a:tc>
                <a:tc>
                  <a:txBody>
                    <a:bodyPr/>
                    <a:lstStyle/>
                    <a:p>
                      <a:r>
                        <a:rPr lang="en-IN" dirty="0"/>
                        <a:t>https://www.linkedin.com/in/gaddam-pravallika-a0471322b/</a:t>
                      </a:r>
                    </a:p>
                  </a:txBody>
                  <a:tcPr/>
                </a:tc>
                <a:tc>
                  <a:txBody>
                    <a:bodyPr/>
                    <a:lstStyle/>
                    <a:p>
                      <a:r>
                        <a:rPr lang="en-IN" dirty="0"/>
                        <a:t>https://github.com/GaddamPravallika</a:t>
                      </a:r>
                    </a:p>
                  </a:txBody>
                  <a:tcPr/>
                </a:tc>
                <a:extLst>
                  <a:ext uri="{0D108BD9-81ED-4DB2-BD59-A6C34878D82A}">
                    <a16:rowId xmlns:a16="http://schemas.microsoft.com/office/drawing/2014/main" val="2507097791"/>
                  </a:ext>
                </a:extLst>
              </a:tr>
              <a:tr h="786581">
                <a:tc>
                  <a:txBody>
                    <a:bodyPr/>
                    <a:lstStyle/>
                    <a:p>
                      <a:r>
                        <a:rPr lang="en-US" dirty="0" err="1"/>
                        <a:t>Siddavatam</a:t>
                      </a:r>
                      <a:r>
                        <a:rPr lang="en-US" dirty="0"/>
                        <a:t> Tejaswini</a:t>
                      </a:r>
                      <a:endParaRPr lang="en-IN" dirty="0"/>
                    </a:p>
                  </a:txBody>
                  <a:tcPr/>
                </a:tc>
                <a:tc>
                  <a:txBody>
                    <a:bodyPr/>
                    <a:lstStyle/>
                    <a:p>
                      <a:r>
                        <a:rPr lang="en-US" dirty="0" err="1"/>
                        <a:t>B.Tech</a:t>
                      </a:r>
                      <a:endParaRPr lang="en-US" dirty="0"/>
                    </a:p>
                    <a:p>
                      <a:endParaRPr lang="en-IN" dirty="0"/>
                    </a:p>
                  </a:txBody>
                  <a:tcPr/>
                </a:tc>
                <a:tc>
                  <a:txBody>
                    <a:bodyPr/>
                    <a:lstStyle/>
                    <a:p>
                      <a:r>
                        <a:rPr lang="en-US" dirty="0"/>
                        <a:t>Fresher</a:t>
                      </a:r>
                      <a:endParaRPr lang="en-IN" dirty="0"/>
                    </a:p>
                  </a:txBody>
                  <a:tcPr/>
                </a:tc>
                <a:tc>
                  <a:txBody>
                    <a:bodyPr/>
                    <a:lstStyle/>
                    <a:p>
                      <a:r>
                        <a:rPr lang="en-IN" dirty="0"/>
                        <a:t>https://www.linkedin.com/in/siddavatam-tejaswini-261493302</a:t>
                      </a:r>
                    </a:p>
                  </a:txBody>
                  <a:tcPr/>
                </a:tc>
                <a:tc>
                  <a:txBody>
                    <a:bodyPr/>
                    <a:lstStyle/>
                    <a:p>
                      <a:r>
                        <a:rPr lang="en-IN" dirty="0"/>
                        <a:t>https://github.com/SiddavatamTejaswini</a:t>
                      </a:r>
                    </a:p>
                  </a:txBody>
                  <a:tcPr/>
                </a:tc>
                <a:extLst>
                  <a:ext uri="{0D108BD9-81ED-4DB2-BD59-A6C34878D82A}">
                    <a16:rowId xmlns:a16="http://schemas.microsoft.com/office/drawing/2014/main" val="2635902421"/>
                  </a:ext>
                </a:extLst>
              </a:tr>
              <a:tr h="786581">
                <a:tc>
                  <a:txBody>
                    <a:bodyPr/>
                    <a:lstStyle/>
                    <a:p>
                      <a:r>
                        <a:rPr lang="en-US" dirty="0" err="1"/>
                        <a:t>Basireddy</a:t>
                      </a:r>
                      <a:r>
                        <a:rPr lang="en-US" dirty="0"/>
                        <a:t> Sireesha</a:t>
                      </a:r>
                      <a:endParaRPr lang="en-IN" dirty="0"/>
                    </a:p>
                  </a:txBody>
                  <a:tcPr/>
                </a:tc>
                <a:tc>
                  <a:txBody>
                    <a:bodyPr/>
                    <a:lstStyle/>
                    <a:p>
                      <a:r>
                        <a:rPr lang="en-US" dirty="0" err="1"/>
                        <a:t>B.Tech</a:t>
                      </a:r>
                      <a:endParaRPr lang="en-IN" dirty="0"/>
                    </a:p>
                  </a:txBody>
                  <a:tcPr/>
                </a:tc>
                <a:tc>
                  <a:txBody>
                    <a:bodyPr/>
                    <a:lstStyle/>
                    <a:p>
                      <a:r>
                        <a:rPr lang="en-US" dirty="0"/>
                        <a:t>Fresher</a:t>
                      </a:r>
                      <a:endParaRPr lang="en-IN" dirty="0"/>
                    </a:p>
                  </a:txBody>
                  <a:tcPr/>
                </a:tc>
                <a:tc>
                  <a:txBody>
                    <a:bodyPr/>
                    <a:lstStyle/>
                    <a:p>
                      <a:r>
                        <a:rPr lang="en-IN" dirty="0"/>
                        <a:t>https://www.linkedin.com/in/sireesha-basireddy-475674302</a:t>
                      </a:r>
                    </a:p>
                  </a:txBody>
                  <a:tcPr/>
                </a:tc>
                <a:tc>
                  <a:txBody>
                    <a:bodyPr/>
                    <a:lstStyle/>
                    <a:p>
                      <a:r>
                        <a:rPr lang="en-IN" dirty="0"/>
                        <a:t>https://github.com/sireesha </a:t>
                      </a:r>
                      <a:r>
                        <a:rPr lang="en-IN" dirty="0" err="1"/>
                        <a:t>basireddy</a:t>
                      </a:r>
                      <a:endParaRPr lang="en-IN" dirty="0"/>
                    </a:p>
                  </a:txBody>
                  <a:tcPr/>
                </a:tc>
                <a:extLst>
                  <a:ext uri="{0D108BD9-81ED-4DB2-BD59-A6C34878D82A}">
                    <a16:rowId xmlns:a16="http://schemas.microsoft.com/office/drawing/2014/main" val="1130683621"/>
                  </a:ext>
                </a:extLst>
              </a:tr>
            </a:tbl>
          </a:graphicData>
        </a:graphic>
      </p:graphicFrame>
    </p:spTree>
    <p:extLst>
      <p:ext uri="{BB962C8B-B14F-4D97-AF65-F5344CB8AC3E}">
        <p14:creationId xmlns:p14="http://schemas.microsoft.com/office/powerpoint/2010/main" val="1046708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D5B4-FF24-9619-43AA-3B9269B6F72B}"/>
              </a:ext>
            </a:extLst>
          </p:cNvPr>
          <p:cNvSpPr>
            <a:spLocks noGrp="1"/>
          </p:cNvSpPr>
          <p:nvPr>
            <p:ph type="title"/>
          </p:nvPr>
        </p:nvSpPr>
        <p:spPr>
          <a:xfrm>
            <a:off x="838200" y="373626"/>
            <a:ext cx="10515600" cy="1238864"/>
          </a:xfrm>
        </p:spPr>
        <p:txBody>
          <a:bodyPr>
            <a:normAutofit fontScale="90000"/>
          </a:bodyPr>
          <a:lstStyle/>
          <a:p>
            <a:br>
              <a:rPr lang="en-IN" b="1" dirty="0"/>
            </a:br>
            <a:r>
              <a:rPr lang="en-IN" sz="4000" b="1" dirty="0">
                <a:latin typeface="Times New Roman" panose="02020603050405020304" pitchFamily="18" charset="0"/>
                <a:cs typeface="Times New Roman" panose="02020603050405020304" pitchFamily="18" charset="0"/>
              </a:rPr>
              <a:t>Objective of the Project</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95981B2-C0F9-7F9F-CD4F-4196DC15906A}"/>
              </a:ext>
            </a:extLst>
          </p:cNvPr>
          <p:cNvSpPr txBox="1"/>
          <p:nvPr/>
        </p:nvSpPr>
        <p:spPr>
          <a:xfrm>
            <a:off x="665922" y="1490870"/>
            <a:ext cx="10426148" cy="3416320"/>
          </a:xfrm>
          <a:prstGeom prst="rect">
            <a:avLst/>
          </a:prstGeom>
          <a:noFill/>
        </p:spPr>
        <p:txBody>
          <a:bodyPr wrap="square" rtlCol="0">
            <a:spAutoFit/>
          </a:bodyPr>
          <a:lstStyle/>
          <a:p>
            <a:pPr marL="285750" indent="-285750" algn="just" eaLnBrk="0" fontAlgn="base" hangingPunct="0">
              <a:spcBef>
                <a:spcPct val="0"/>
              </a:spcBef>
              <a:spcAft>
                <a:spcPct val="0"/>
              </a:spcAft>
              <a:buClrTx/>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Customer Insights        :</a:t>
            </a:r>
            <a:r>
              <a:rPr lang="en-US" sz="1800" dirty="0">
                <a:latin typeface="Times New Roman" panose="02020603050405020304" pitchFamily="18" charset="0"/>
                <a:cs typeface="Times New Roman" panose="02020603050405020304" pitchFamily="18" charset="0"/>
              </a:rPr>
              <a:t>Understand who the top customers are, how they shop, and where they come from.</a:t>
            </a:r>
          </a:p>
          <a:p>
            <a:pPr algn="just" eaLnBrk="0" fontAlgn="base" hangingPunct="0">
              <a:spcBef>
                <a:spcPct val="0"/>
              </a:spcBef>
              <a:spcAft>
                <a:spcPct val="0"/>
              </a:spcAft>
              <a:buClrTx/>
            </a:pPr>
            <a:endParaRPr lang="en-US" sz="18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Playlist Trends          :    </a:t>
            </a:r>
            <a:r>
              <a:rPr lang="en-US" sz="1800" dirty="0">
                <a:latin typeface="Times New Roman" panose="02020603050405020304" pitchFamily="18" charset="0"/>
                <a:cs typeface="Times New Roman" panose="02020603050405020304" pitchFamily="18" charset="0"/>
              </a:rPr>
              <a:t>Analyze playlist composition to understand customer preferences and popular tracks.</a:t>
            </a:r>
          </a:p>
          <a:p>
            <a:pPr marL="285750" lvl="0" indent="-285750" algn="just" eaLnBrk="0" fontAlgn="base" hangingPunct="0">
              <a:spcBef>
                <a:spcPct val="0"/>
              </a:spcBef>
              <a:spcAft>
                <a:spcPct val="0"/>
              </a:spcAft>
              <a:buClrTx/>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Inventory Insights         : </a:t>
            </a:r>
            <a:r>
              <a:rPr lang="en-US" sz="1800" dirty="0">
                <a:latin typeface="Times New Roman" panose="02020603050405020304" pitchFamily="18" charset="0"/>
                <a:cs typeface="Times New Roman" panose="02020603050405020304" pitchFamily="18" charset="0"/>
              </a:rPr>
              <a:t>Study album and track availability, media </a:t>
            </a:r>
            <a:r>
              <a:rPr lang="en-US" sz="1800" dirty="0" err="1">
                <a:latin typeface="Times New Roman" panose="02020603050405020304" pitchFamily="18" charset="0"/>
                <a:cs typeface="Times New Roman" panose="02020603050405020304" pitchFamily="18" charset="0"/>
              </a:rPr>
              <a:t>types,and</a:t>
            </a:r>
            <a:r>
              <a:rPr lang="en-US" sz="1800" dirty="0">
                <a:latin typeface="Times New Roman" panose="02020603050405020304" pitchFamily="18" charset="0"/>
                <a:cs typeface="Times New Roman" panose="02020603050405020304" pitchFamily="18" charset="0"/>
              </a:rPr>
              <a:t> their sales impact.</a:t>
            </a:r>
          </a:p>
          <a:p>
            <a:pPr lvl="0" algn="just" eaLnBrk="0" fontAlgn="base" hangingPunct="0">
              <a:spcBef>
                <a:spcPct val="0"/>
              </a:spcBef>
              <a:spcAft>
                <a:spcPct val="0"/>
              </a:spcAft>
              <a:buClrTx/>
            </a:pPr>
            <a:endParaRPr lang="en-US" sz="18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Business Intelligence   :</a:t>
            </a:r>
            <a:r>
              <a:rPr lang="en-US" sz="1800" dirty="0">
                <a:latin typeface="Times New Roman" panose="02020603050405020304" pitchFamily="18" charset="0"/>
                <a:cs typeface="Times New Roman" panose="02020603050405020304" pitchFamily="18" charset="0"/>
              </a:rPr>
              <a:t> Generate actionable insights to support </a:t>
            </a:r>
            <a:r>
              <a:rPr lang="en-US" sz="1800" dirty="0" err="1">
                <a:latin typeface="Times New Roman" panose="02020603050405020304" pitchFamily="18" charset="0"/>
                <a:cs typeface="Times New Roman" panose="02020603050405020304" pitchFamily="18" charset="0"/>
              </a:rPr>
              <a:t>marketing,inventory</a:t>
            </a:r>
            <a:r>
              <a:rPr lang="en-US" sz="1800" dirty="0">
                <a:latin typeface="Times New Roman" panose="02020603050405020304" pitchFamily="18" charset="0"/>
                <a:cs typeface="Times New Roman" panose="02020603050405020304" pitchFamily="18" charset="0"/>
              </a:rPr>
              <a:t> planning, and sales strategies.</a:t>
            </a:r>
          </a:p>
          <a:p>
            <a:pPr marL="285750" lvl="0" indent="-285750" algn="just" eaLnBrk="0" fontAlgn="base" hangingPunct="0">
              <a:spcBef>
                <a:spcPct val="0"/>
              </a:spcBef>
              <a:spcAft>
                <a:spcPct val="0"/>
              </a:spcAft>
              <a:buClrTx/>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SQL Application     : </a:t>
            </a:r>
            <a:r>
              <a:rPr lang="en-US" sz="1800" dirty="0">
                <a:latin typeface="Times New Roman" panose="02020603050405020304" pitchFamily="18" charset="0"/>
                <a:cs typeface="Times New Roman" panose="02020603050405020304" pitchFamily="18" charset="0"/>
              </a:rPr>
              <a:t>Demonstrate practical use of SQL queries for data </a:t>
            </a:r>
            <a:r>
              <a:rPr lang="en-US" sz="1800" dirty="0" err="1">
                <a:latin typeface="Times New Roman" panose="02020603050405020304" pitchFamily="18" charset="0"/>
                <a:cs typeface="Times New Roman" panose="02020603050405020304" pitchFamily="18" charset="0"/>
              </a:rPr>
              <a:t>extraction,aggregation,and</a:t>
            </a:r>
            <a:r>
              <a:rPr lang="en-US" sz="1800" dirty="0">
                <a:latin typeface="Times New Roman" panose="02020603050405020304" pitchFamily="18" charset="0"/>
                <a:cs typeface="Times New Roman" panose="02020603050405020304" pitchFamily="18" charset="0"/>
              </a:rPr>
              <a:t> analysis.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667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732CC-7916-6489-AAA7-C1876E1BFD38}"/>
              </a:ext>
            </a:extLst>
          </p:cNvPr>
          <p:cNvSpPr>
            <a:spLocks noGrp="1"/>
          </p:cNvSpPr>
          <p:nvPr>
            <p:ph type="title"/>
          </p:nvPr>
        </p:nvSpPr>
        <p:spPr>
          <a:xfrm>
            <a:off x="838200" y="288236"/>
            <a:ext cx="10515600" cy="1262269"/>
          </a:xfrm>
        </p:spPr>
        <p:txBody>
          <a:bodyPr>
            <a:normAutofit fontScale="90000"/>
          </a:bodyPr>
          <a:lstStyle/>
          <a:p>
            <a:br>
              <a:rPr lang="en-IN" b="1" dirty="0"/>
            </a:br>
            <a:r>
              <a:rPr lang="en-IN" sz="4000" b="1" dirty="0">
                <a:latin typeface="Times New Roman" panose="02020603050405020304" pitchFamily="18" charset="0"/>
                <a:cs typeface="Times New Roman" panose="02020603050405020304" pitchFamily="18" charset="0"/>
              </a:rPr>
              <a:t>ER Diagram and schema explanation</a:t>
            </a:r>
            <a:br>
              <a:rPr lang="en-IN" dirty="0"/>
            </a:br>
            <a:endParaRPr lang="en-IN" dirty="0"/>
          </a:p>
        </p:txBody>
      </p:sp>
      <p:pic>
        <p:nvPicPr>
          <p:cNvPr id="7" name="Picture 6">
            <a:extLst>
              <a:ext uri="{FF2B5EF4-FFF2-40B4-BE49-F238E27FC236}">
                <a16:creationId xmlns:a16="http://schemas.microsoft.com/office/drawing/2014/main" id="{A1347AB7-EB82-79E9-E48C-061F4D3746F4}"/>
              </a:ext>
            </a:extLst>
          </p:cNvPr>
          <p:cNvPicPr>
            <a:picLocks noChangeAspect="1"/>
          </p:cNvPicPr>
          <p:nvPr/>
        </p:nvPicPr>
        <p:blipFill>
          <a:blip r:embed="rId2"/>
          <a:stretch>
            <a:fillRect/>
          </a:stretch>
        </p:blipFill>
        <p:spPr>
          <a:xfrm>
            <a:off x="1229031" y="1550505"/>
            <a:ext cx="8947355" cy="4309521"/>
          </a:xfrm>
          <a:prstGeom prst="rect">
            <a:avLst/>
          </a:prstGeom>
        </p:spPr>
      </p:pic>
    </p:spTree>
    <p:extLst>
      <p:ext uri="{BB962C8B-B14F-4D97-AF65-F5344CB8AC3E}">
        <p14:creationId xmlns:p14="http://schemas.microsoft.com/office/powerpoint/2010/main" val="3741718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00389-CAA7-45AB-F4D1-EDDE3C6D68D0}"/>
              </a:ext>
            </a:extLst>
          </p:cNvPr>
          <p:cNvSpPr>
            <a:spLocks noGrp="1"/>
          </p:cNvSpPr>
          <p:nvPr>
            <p:ph type="title"/>
          </p:nvPr>
        </p:nvSpPr>
        <p:spPr>
          <a:xfrm>
            <a:off x="838200" y="681036"/>
            <a:ext cx="10515600" cy="833131"/>
          </a:xfrm>
        </p:spPr>
        <p:txBody>
          <a:bodyPr>
            <a:normAutofit fontScale="90000"/>
          </a:bodyPr>
          <a:lstStyle/>
          <a:p>
            <a:r>
              <a:rPr lang="en-US" sz="3600" b="1" dirty="0">
                <a:latin typeface="Times New Roman" panose="02020603050405020304" pitchFamily="18" charset="0"/>
                <a:cs typeface="Times New Roman" panose="02020603050405020304" pitchFamily="18" charset="0"/>
              </a:rPr>
              <a:t>SQL query results with screenshots or summaries</a:t>
            </a: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D342FFF-2573-C5B0-48C0-2496562885E8}"/>
              </a:ext>
            </a:extLst>
          </p:cNvPr>
          <p:cNvSpPr>
            <a:spLocks noGrp="1"/>
          </p:cNvSpPr>
          <p:nvPr>
            <p:ph type="body" idx="1"/>
          </p:nvPr>
        </p:nvSpPr>
        <p:spPr/>
        <p:txBody>
          <a:bodyPr/>
          <a:lstStyle/>
          <a:p>
            <a:pPr marL="114300" indent="0" algn="just">
              <a:buNone/>
            </a:pPr>
            <a:r>
              <a:rPr lang="en-US" sz="2400" dirty="0">
                <a:latin typeface="Times New Roman" panose="02020603050405020304" pitchFamily="18" charset="0"/>
                <a:cs typeface="Times New Roman" panose="02020603050405020304" pitchFamily="18" charset="0"/>
              </a:rPr>
              <a:t>1.Who is the senior most employee based on job title? </a:t>
            </a:r>
          </a:p>
          <a:p>
            <a:pPr marL="628650" indent="-514350" algn="just">
              <a:buAutoNum type="arabicPeriod"/>
            </a:pPr>
            <a:endParaRPr lang="en-US" sz="2400" dirty="0">
              <a:latin typeface="Times New Roman" panose="02020603050405020304" pitchFamily="18" charset="0"/>
              <a:cs typeface="Times New Roman" panose="02020603050405020304" pitchFamily="18" charset="0"/>
            </a:endParaRPr>
          </a:p>
          <a:p>
            <a:pPr marL="628650" indent="-514350">
              <a:buAutoNum type="arabicPeriod"/>
            </a:pPr>
            <a:endParaRPr lang="en-US" dirty="0">
              <a:latin typeface="Times New Roman" panose="02020603050405020304" pitchFamily="18" charset="0"/>
              <a:cs typeface="Times New Roman" panose="02020603050405020304" pitchFamily="18" charset="0"/>
            </a:endParaRPr>
          </a:p>
          <a:p>
            <a:pPr marL="114300" indent="0">
              <a:buNone/>
            </a:pPr>
            <a:endParaRPr lang="en-US" dirty="0"/>
          </a:p>
          <a:p>
            <a:pPr marL="114300" indent="0">
              <a:buNone/>
            </a:pPr>
            <a:r>
              <a:rPr lang="en-US" sz="2400" dirty="0">
                <a:latin typeface="Times New Roman" panose="02020603050405020304" pitchFamily="18" charset="0"/>
                <a:cs typeface="Times New Roman" panose="02020603050405020304" pitchFamily="18" charset="0"/>
              </a:rPr>
              <a:t>2. Which countries have the most Invoices?</a:t>
            </a:r>
            <a:br>
              <a:rPr lang="en-US" sz="2000" dirty="0"/>
            </a:br>
            <a:endParaRPr lang="en-US" sz="2000" dirty="0"/>
          </a:p>
          <a:p>
            <a:pPr marL="114300" indent="0">
              <a:buNone/>
            </a:pPr>
            <a:endParaRPr lang="en-IN" dirty="0"/>
          </a:p>
        </p:txBody>
      </p:sp>
      <p:pic>
        <p:nvPicPr>
          <p:cNvPr id="9" name="Picture 8">
            <a:extLst>
              <a:ext uri="{FF2B5EF4-FFF2-40B4-BE49-F238E27FC236}">
                <a16:creationId xmlns:a16="http://schemas.microsoft.com/office/drawing/2014/main" id="{5C9668B5-796C-C546-02C7-45FA5B5637E3}"/>
              </a:ext>
            </a:extLst>
          </p:cNvPr>
          <p:cNvPicPr>
            <a:picLocks noChangeAspect="1"/>
          </p:cNvPicPr>
          <p:nvPr/>
        </p:nvPicPr>
        <p:blipFill>
          <a:blip r:embed="rId2"/>
          <a:stretch>
            <a:fillRect/>
          </a:stretch>
        </p:blipFill>
        <p:spPr>
          <a:xfrm>
            <a:off x="1470991" y="4483920"/>
            <a:ext cx="5059018" cy="1449741"/>
          </a:xfrm>
          <a:prstGeom prst="rect">
            <a:avLst/>
          </a:prstGeom>
        </p:spPr>
      </p:pic>
      <p:pic>
        <p:nvPicPr>
          <p:cNvPr id="5" name="Picture 4">
            <a:extLst>
              <a:ext uri="{FF2B5EF4-FFF2-40B4-BE49-F238E27FC236}">
                <a16:creationId xmlns:a16="http://schemas.microsoft.com/office/drawing/2014/main" id="{B27D0573-5FDD-6755-E556-95153E24882D}"/>
              </a:ext>
            </a:extLst>
          </p:cNvPr>
          <p:cNvPicPr>
            <a:picLocks noChangeAspect="1"/>
          </p:cNvPicPr>
          <p:nvPr/>
        </p:nvPicPr>
        <p:blipFill>
          <a:blip r:embed="rId3"/>
          <a:stretch>
            <a:fillRect/>
          </a:stretch>
        </p:blipFill>
        <p:spPr>
          <a:xfrm>
            <a:off x="2259368" y="2507226"/>
            <a:ext cx="1950889" cy="1150374"/>
          </a:xfrm>
          <a:prstGeom prst="rect">
            <a:avLst/>
          </a:prstGeom>
        </p:spPr>
      </p:pic>
    </p:spTree>
    <p:extLst>
      <p:ext uri="{BB962C8B-B14F-4D97-AF65-F5344CB8AC3E}">
        <p14:creationId xmlns:p14="http://schemas.microsoft.com/office/powerpoint/2010/main" val="2311713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63F7E49-B53F-35E4-A8FA-061224926F88}"/>
              </a:ext>
            </a:extLst>
          </p:cNvPr>
          <p:cNvSpPr>
            <a:spLocks noGrp="1"/>
          </p:cNvSpPr>
          <p:nvPr>
            <p:ph type="body" idx="1"/>
          </p:nvPr>
        </p:nvSpPr>
        <p:spPr>
          <a:xfrm>
            <a:off x="838200" y="387626"/>
            <a:ext cx="10515600" cy="5789337"/>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3. What are the top 3 values of total invoice?</a:t>
            </a:r>
          </a:p>
          <a:p>
            <a:pPr marL="114300" indent="0">
              <a:buNone/>
            </a:pPr>
            <a:endParaRPr lang="en-US" b="1" dirty="0"/>
          </a:p>
          <a:p>
            <a:pPr marL="114300" indent="0">
              <a:buNone/>
            </a:pPr>
            <a:endParaRPr lang="en-US" dirty="0"/>
          </a:p>
          <a:p>
            <a:pPr marL="114300" indent="0">
              <a:buNone/>
            </a:pPr>
            <a:endParaRPr lang="en-US" dirty="0"/>
          </a:p>
          <a:p>
            <a:pPr marL="114300" indent="0" algn="just">
              <a:buNone/>
            </a:pPr>
            <a:r>
              <a:rPr lang="en-US" sz="2400" dirty="0">
                <a:latin typeface="Times New Roman" panose="02020603050405020304" pitchFamily="18" charset="0"/>
                <a:cs typeface="Times New Roman" panose="02020603050405020304" pitchFamily="18" charset="0"/>
              </a:rPr>
              <a:t>4. Which city has the best customers? - We would like to throw a promotional Music Festival in the city we made the most money. Write a query that returns one city that has the highest sum of invoice totals. Return both the city name &amp; sum of all invoice totals</a:t>
            </a:r>
          </a:p>
          <a:p>
            <a:pPr marL="114300" indent="0">
              <a:buNone/>
            </a:pPr>
            <a:br>
              <a:rPr lang="en-US" sz="2400" dirty="0"/>
            </a:br>
            <a:endParaRPr lang="en-US" sz="2400" dirty="0"/>
          </a:p>
          <a:p>
            <a:pPr marL="114300" indent="0">
              <a:buNone/>
            </a:pPr>
            <a:endParaRPr lang="en-US" dirty="0"/>
          </a:p>
          <a:p>
            <a:pPr marL="114300" indent="0">
              <a:buNone/>
            </a:pPr>
            <a:endParaRPr lang="en-IN" dirty="0"/>
          </a:p>
        </p:txBody>
      </p:sp>
      <p:pic>
        <p:nvPicPr>
          <p:cNvPr id="5" name="Picture 4">
            <a:extLst>
              <a:ext uri="{FF2B5EF4-FFF2-40B4-BE49-F238E27FC236}">
                <a16:creationId xmlns:a16="http://schemas.microsoft.com/office/drawing/2014/main" id="{EA09C90C-C3FE-ACF8-BA14-89400E44DD31}"/>
              </a:ext>
            </a:extLst>
          </p:cNvPr>
          <p:cNvPicPr>
            <a:picLocks noChangeAspect="1"/>
          </p:cNvPicPr>
          <p:nvPr/>
        </p:nvPicPr>
        <p:blipFill>
          <a:blip r:embed="rId2"/>
          <a:stretch>
            <a:fillRect/>
          </a:stretch>
        </p:blipFill>
        <p:spPr>
          <a:xfrm>
            <a:off x="2320786" y="1053668"/>
            <a:ext cx="6341165" cy="1510628"/>
          </a:xfrm>
          <a:prstGeom prst="rect">
            <a:avLst/>
          </a:prstGeom>
        </p:spPr>
      </p:pic>
      <p:pic>
        <p:nvPicPr>
          <p:cNvPr id="7" name="Picture 6">
            <a:extLst>
              <a:ext uri="{FF2B5EF4-FFF2-40B4-BE49-F238E27FC236}">
                <a16:creationId xmlns:a16="http://schemas.microsoft.com/office/drawing/2014/main" id="{CF3B5739-5079-3E09-752F-0B8FA503D1E3}"/>
              </a:ext>
            </a:extLst>
          </p:cNvPr>
          <p:cNvPicPr>
            <a:picLocks noChangeAspect="1"/>
          </p:cNvPicPr>
          <p:nvPr/>
        </p:nvPicPr>
        <p:blipFill>
          <a:blip r:embed="rId3"/>
          <a:stretch>
            <a:fillRect/>
          </a:stretch>
        </p:blipFill>
        <p:spPr>
          <a:xfrm>
            <a:off x="2226365" y="4094922"/>
            <a:ext cx="6341165" cy="2082041"/>
          </a:xfrm>
          <a:prstGeom prst="rect">
            <a:avLst/>
          </a:prstGeom>
        </p:spPr>
      </p:pic>
    </p:spTree>
    <p:extLst>
      <p:ext uri="{BB962C8B-B14F-4D97-AF65-F5344CB8AC3E}">
        <p14:creationId xmlns:p14="http://schemas.microsoft.com/office/powerpoint/2010/main" val="3096022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495E06-3920-CC0C-0B5B-0D6CBBBB99D3}"/>
              </a:ext>
            </a:extLst>
          </p:cNvPr>
          <p:cNvSpPr>
            <a:spLocks noGrp="1"/>
          </p:cNvSpPr>
          <p:nvPr>
            <p:ph type="body" idx="1"/>
          </p:nvPr>
        </p:nvSpPr>
        <p:spPr>
          <a:xfrm>
            <a:off x="838200" y="367748"/>
            <a:ext cx="10515600" cy="5937085"/>
          </a:xfrm>
        </p:spPr>
        <p:txBody>
          <a:bodyPr>
            <a:normAutofit/>
          </a:bodyPr>
          <a:lstStyle/>
          <a:p>
            <a:pPr marL="114300" indent="0" algn="just">
              <a:buNone/>
            </a:pPr>
            <a:r>
              <a:rPr lang="en-US" sz="2400" dirty="0">
                <a:latin typeface="Times New Roman" panose="02020603050405020304" pitchFamily="18" charset="0"/>
                <a:cs typeface="Times New Roman" panose="02020603050405020304" pitchFamily="18" charset="0"/>
              </a:rPr>
              <a:t>5. Who is the best customer? - The customer who has spent the most money will be declared the best customer. Write a query that returns the person who has spent the most money</a:t>
            </a:r>
          </a:p>
          <a:p>
            <a:pPr marL="114300" indent="0">
              <a:buNone/>
            </a:pPr>
            <a:endParaRPr lang="en-US" sz="2400" dirty="0"/>
          </a:p>
          <a:p>
            <a:pPr marL="114300" indent="0">
              <a:buNone/>
            </a:pPr>
            <a:br>
              <a:rPr lang="en-US" dirty="0"/>
            </a:br>
            <a:endParaRPr lang="en-US" dirty="0"/>
          </a:p>
          <a:p>
            <a:pPr marL="114300" indent="0">
              <a:buNone/>
            </a:pPr>
            <a:endParaRPr lang="en-US"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IN" dirty="0"/>
          </a:p>
        </p:txBody>
      </p:sp>
      <p:pic>
        <p:nvPicPr>
          <p:cNvPr id="5" name="Picture 4">
            <a:extLst>
              <a:ext uri="{FF2B5EF4-FFF2-40B4-BE49-F238E27FC236}">
                <a16:creationId xmlns:a16="http://schemas.microsoft.com/office/drawing/2014/main" id="{4791FBDE-85D6-330C-FF69-C4D30D41851B}"/>
              </a:ext>
            </a:extLst>
          </p:cNvPr>
          <p:cNvPicPr>
            <a:picLocks noChangeAspect="1"/>
          </p:cNvPicPr>
          <p:nvPr/>
        </p:nvPicPr>
        <p:blipFill>
          <a:blip r:embed="rId2"/>
          <a:stretch>
            <a:fillRect/>
          </a:stretch>
        </p:blipFill>
        <p:spPr>
          <a:xfrm>
            <a:off x="2544418" y="1928192"/>
            <a:ext cx="7752522" cy="2961860"/>
          </a:xfrm>
          <a:prstGeom prst="rect">
            <a:avLst/>
          </a:prstGeom>
        </p:spPr>
      </p:pic>
    </p:spTree>
    <p:extLst>
      <p:ext uri="{BB962C8B-B14F-4D97-AF65-F5344CB8AC3E}">
        <p14:creationId xmlns:p14="http://schemas.microsoft.com/office/powerpoint/2010/main" val="3149258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A630FC-3DAC-564F-E37C-0851E421CCAC}"/>
              </a:ext>
            </a:extLst>
          </p:cNvPr>
          <p:cNvSpPr>
            <a:spLocks noGrp="1"/>
          </p:cNvSpPr>
          <p:nvPr>
            <p:ph type="body" idx="1"/>
          </p:nvPr>
        </p:nvSpPr>
        <p:spPr>
          <a:xfrm>
            <a:off x="838200" y="427383"/>
            <a:ext cx="10515600" cy="5749580"/>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6. Write a query to return the email, first name, last name, &amp; Genre of all Rock Music listeners. Return your list ordered alphabetically by email starting with A</a:t>
            </a:r>
          </a:p>
          <a:p>
            <a:pPr marL="114300" indent="0">
              <a:buNone/>
            </a:pPr>
            <a:endParaRPr lang="en-IN" dirty="0"/>
          </a:p>
        </p:txBody>
      </p:sp>
      <p:pic>
        <p:nvPicPr>
          <p:cNvPr id="4" name="Picture 3">
            <a:extLst>
              <a:ext uri="{FF2B5EF4-FFF2-40B4-BE49-F238E27FC236}">
                <a16:creationId xmlns:a16="http://schemas.microsoft.com/office/drawing/2014/main" id="{8EB63ED1-A56C-6133-3C68-B8AC5CC5A162}"/>
              </a:ext>
            </a:extLst>
          </p:cNvPr>
          <p:cNvPicPr>
            <a:picLocks noChangeAspect="1"/>
          </p:cNvPicPr>
          <p:nvPr/>
        </p:nvPicPr>
        <p:blipFill>
          <a:blip r:embed="rId2"/>
          <a:stretch>
            <a:fillRect/>
          </a:stretch>
        </p:blipFill>
        <p:spPr>
          <a:xfrm>
            <a:off x="3119230" y="1689653"/>
            <a:ext cx="8358809" cy="4368041"/>
          </a:xfrm>
          <a:prstGeom prst="rect">
            <a:avLst/>
          </a:prstGeom>
        </p:spPr>
      </p:pic>
    </p:spTree>
    <p:extLst>
      <p:ext uri="{BB962C8B-B14F-4D97-AF65-F5344CB8AC3E}">
        <p14:creationId xmlns:p14="http://schemas.microsoft.com/office/powerpoint/2010/main" val="2781465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48D6F9-E23E-5913-2767-E6924B5AFE49}"/>
              </a:ext>
            </a:extLst>
          </p:cNvPr>
          <p:cNvSpPr>
            <a:spLocks noGrp="1"/>
          </p:cNvSpPr>
          <p:nvPr>
            <p:ph type="body" idx="1"/>
          </p:nvPr>
        </p:nvSpPr>
        <p:spPr>
          <a:xfrm>
            <a:off x="838200" y="377687"/>
            <a:ext cx="10515600" cy="5799276"/>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7. Let's invite the artists who have written the most rock music in our dataset. Write a query that returns the Artist name and total track count of the top 10 rock bands. </a:t>
            </a:r>
          </a:p>
          <a:p>
            <a:pPr marL="114300" indent="0">
              <a:buNone/>
            </a:pPr>
            <a:endParaRPr lang="en-IN" dirty="0"/>
          </a:p>
        </p:txBody>
      </p:sp>
      <p:pic>
        <p:nvPicPr>
          <p:cNvPr id="5" name="Picture 4">
            <a:extLst>
              <a:ext uri="{FF2B5EF4-FFF2-40B4-BE49-F238E27FC236}">
                <a16:creationId xmlns:a16="http://schemas.microsoft.com/office/drawing/2014/main" id="{C39AA196-C35B-7F5F-1980-E0A7B4388A30}"/>
              </a:ext>
            </a:extLst>
          </p:cNvPr>
          <p:cNvPicPr>
            <a:picLocks noChangeAspect="1"/>
          </p:cNvPicPr>
          <p:nvPr/>
        </p:nvPicPr>
        <p:blipFill>
          <a:blip r:embed="rId2"/>
          <a:stretch>
            <a:fillRect/>
          </a:stretch>
        </p:blipFill>
        <p:spPr>
          <a:xfrm>
            <a:off x="3001617" y="1720644"/>
            <a:ext cx="6698974" cy="4203077"/>
          </a:xfrm>
          <a:prstGeom prst="rect">
            <a:avLst/>
          </a:prstGeom>
        </p:spPr>
      </p:pic>
    </p:spTree>
    <p:extLst>
      <p:ext uri="{BB962C8B-B14F-4D97-AF65-F5344CB8AC3E}">
        <p14:creationId xmlns:p14="http://schemas.microsoft.com/office/powerpoint/2010/main" val="2597193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1F9C8F-E209-3685-B420-1794A9BBEDE1}"/>
              </a:ext>
            </a:extLst>
          </p:cNvPr>
          <p:cNvSpPr>
            <a:spLocks noGrp="1"/>
          </p:cNvSpPr>
          <p:nvPr>
            <p:ph type="body" idx="1"/>
          </p:nvPr>
        </p:nvSpPr>
        <p:spPr>
          <a:xfrm>
            <a:off x="838200" y="417443"/>
            <a:ext cx="10515600" cy="5759520"/>
          </a:xfrm>
        </p:spPr>
        <p:txBody>
          <a:bodyPr>
            <a:normAutofit/>
          </a:bodyPr>
          <a:lstStyle/>
          <a:p>
            <a:pPr marL="114300" indent="0">
              <a:buNone/>
            </a:pPr>
            <a:endParaRPr lang="en-US" sz="2000" dirty="0"/>
          </a:p>
          <a:p>
            <a:pPr marL="114300" indent="0" algn="just">
              <a:buNone/>
            </a:pPr>
            <a:r>
              <a:rPr lang="en-US" sz="2000" dirty="0">
                <a:latin typeface="Times New Roman" panose="02020603050405020304" pitchFamily="18" charset="0"/>
                <a:cs typeface="Times New Roman" panose="02020603050405020304" pitchFamily="18" charset="0"/>
              </a:rPr>
              <a:t>8. Return all the track names that have a song length longer than the average song length.- Return the Name and Milliseconds for each track. Order by the song length, with the longest songs listed first</a:t>
            </a:r>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US" sz="2000" dirty="0"/>
          </a:p>
          <a:p>
            <a:pPr marL="114300" indent="0">
              <a:buNone/>
            </a:pPr>
            <a:endParaRPr lang="en-IN" sz="2000" dirty="0"/>
          </a:p>
        </p:txBody>
      </p:sp>
      <p:pic>
        <p:nvPicPr>
          <p:cNvPr id="5" name="Picture 4">
            <a:extLst>
              <a:ext uri="{FF2B5EF4-FFF2-40B4-BE49-F238E27FC236}">
                <a16:creationId xmlns:a16="http://schemas.microsoft.com/office/drawing/2014/main" id="{4E5596DB-E818-85B1-4490-3B83191388EF}"/>
              </a:ext>
            </a:extLst>
          </p:cNvPr>
          <p:cNvPicPr>
            <a:picLocks noChangeAspect="1"/>
          </p:cNvPicPr>
          <p:nvPr/>
        </p:nvPicPr>
        <p:blipFill>
          <a:blip r:embed="rId2"/>
          <a:stretch>
            <a:fillRect/>
          </a:stretch>
        </p:blipFill>
        <p:spPr>
          <a:xfrm>
            <a:off x="3200400" y="2416761"/>
            <a:ext cx="4853121" cy="1717917"/>
          </a:xfrm>
          <a:prstGeom prst="rect">
            <a:avLst/>
          </a:prstGeom>
        </p:spPr>
      </p:pic>
    </p:spTree>
    <p:extLst>
      <p:ext uri="{BB962C8B-B14F-4D97-AF65-F5344CB8AC3E}">
        <p14:creationId xmlns:p14="http://schemas.microsoft.com/office/powerpoint/2010/main" val="794671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763D65-C5CE-8425-39CF-FE6A131B39D4}"/>
              </a:ext>
            </a:extLst>
          </p:cNvPr>
          <p:cNvSpPr>
            <a:spLocks noGrp="1"/>
          </p:cNvSpPr>
          <p:nvPr>
            <p:ph type="body" idx="1"/>
          </p:nvPr>
        </p:nvSpPr>
        <p:spPr>
          <a:xfrm>
            <a:off x="838200" y="609599"/>
            <a:ext cx="10515600" cy="5567363"/>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9. Find how much amount is spent by each customer on artists? Write a query to return customer name, artist name and total spent </a:t>
            </a:r>
          </a:p>
          <a:p>
            <a:pPr marL="114300" indent="0">
              <a:buNone/>
            </a:pPr>
            <a:endParaRPr lang="en-IN" dirty="0"/>
          </a:p>
        </p:txBody>
      </p:sp>
      <p:pic>
        <p:nvPicPr>
          <p:cNvPr id="4" name="Picture 3">
            <a:extLst>
              <a:ext uri="{FF2B5EF4-FFF2-40B4-BE49-F238E27FC236}">
                <a16:creationId xmlns:a16="http://schemas.microsoft.com/office/drawing/2014/main" id="{60603F34-F74B-B543-C038-F4BE18176EE3}"/>
              </a:ext>
            </a:extLst>
          </p:cNvPr>
          <p:cNvPicPr>
            <a:picLocks noChangeAspect="1"/>
          </p:cNvPicPr>
          <p:nvPr/>
        </p:nvPicPr>
        <p:blipFill>
          <a:blip r:embed="rId2"/>
          <a:stretch>
            <a:fillRect/>
          </a:stretch>
        </p:blipFill>
        <p:spPr>
          <a:xfrm>
            <a:off x="2605230" y="1830296"/>
            <a:ext cx="7146234" cy="3349487"/>
          </a:xfrm>
          <a:prstGeom prst="rect">
            <a:avLst/>
          </a:prstGeom>
        </p:spPr>
      </p:pic>
    </p:spTree>
    <p:extLst>
      <p:ext uri="{BB962C8B-B14F-4D97-AF65-F5344CB8AC3E}">
        <p14:creationId xmlns:p14="http://schemas.microsoft.com/office/powerpoint/2010/main" val="596233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C5A698-D00C-01C1-6E67-8ED924BD3213}"/>
              </a:ext>
            </a:extLst>
          </p:cNvPr>
          <p:cNvSpPr>
            <a:spLocks noGrp="1"/>
          </p:cNvSpPr>
          <p:nvPr>
            <p:ph type="body" idx="1"/>
          </p:nvPr>
        </p:nvSpPr>
        <p:spPr>
          <a:xfrm>
            <a:off x="838200" y="616226"/>
            <a:ext cx="10515600" cy="5560737"/>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marL="114300" indent="0">
              <a:buNone/>
            </a:pPr>
            <a:endParaRPr lang="en-IN" dirty="0"/>
          </a:p>
        </p:txBody>
      </p:sp>
      <p:pic>
        <p:nvPicPr>
          <p:cNvPr id="5" name="Picture 4">
            <a:extLst>
              <a:ext uri="{FF2B5EF4-FFF2-40B4-BE49-F238E27FC236}">
                <a16:creationId xmlns:a16="http://schemas.microsoft.com/office/drawing/2014/main" id="{A49EDF03-8A60-E3D3-66EC-5F36A79C68E1}"/>
              </a:ext>
            </a:extLst>
          </p:cNvPr>
          <p:cNvPicPr>
            <a:picLocks noChangeAspect="1"/>
          </p:cNvPicPr>
          <p:nvPr/>
        </p:nvPicPr>
        <p:blipFill>
          <a:blip r:embed="rId2"/>
          <a:stretch>
            <a:fillRect/>
          </a:stretch>
        </p:blipFill>
        <p:spPr>
          <a:xfrm>
            <a:off x="3101009" y="2643808"/>
            <a:ext cx="5809475" cy="3299792"/>
          </a:xfrm>
          <a:prstGeom prst="rect">
            <a:avLst/>
          </a:prstGeom>
        </p:spPr>
      </p:pic>
    </p:spTree>
    <p:extLst>
      <p:ext uri="{BB962C8B-B14F-4D97-AF65-F5344CB8AC3E}">
        <p14:creationId xmlns:p14="http://schemas.microsoft.com/office/powerpoint/2010/main" val="911242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BD2E2D-2B97-0312-1861-D841BAAD6DF0}"/>
              </a:ext>
            </a:extLst>
          </p:cNvPr>
          <p:cNvSpPr>
            <a:spLocks noGrp="1"/>
          </p:cNvSpPr>
          <p:nvPr>
            <p:ph type="body" idx="1"/>
          </p:nvPr>
        </p:nvSpPr>
        <p:spPr>
          <a:xfrm>
            <a:off x="838200" y="447261"/>
            <a:ext cx="10515600" cy="5729702"/>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marL="114300" indent="0">
              <a:buNone/>
            </a:pPr>
            <a:endParaRPr lang="en-IN" dirty="0"/>
          </a:p>
        </p:txBody>
      </p:sp>
      <p:pic>
        <p:nvPicPr>
          <p:cNvPr id="5" name="Picture 4">
            <a:extLst>
              <a:ext uri="{FF2B5EF4-FFF2-40B4-BE49-F238E27FC236}">
                <a16:creationId xmlns:a16="http://schemas.microsoft.com/office/drawing/2014/main" id="{A84EE216-F3AD-AD00-2BEC-B8895FDF09B8}"/>
              </a:ext>
            </a:extLst>
          </p:cNvPr>
          <p:cNvPicPr>
            <a:picLocks noChangeAspect="1"/>
          </p:cNvPicPr>
          <p:nvPr/>
        </p:nvPicPr>
        <p:blipFill>
          <a:blip r:embed="rId2"/>
          <a:stretch>
            <a:fillRect/>
          </a:stretch>
        </p:blipFill>
        <p:spPr>
          <a:xfrm>
            <a:off x="2246244" y="2026219"/>
            <a:ext cx="6828182" cy="4150744"/>
          </a:xfrm>
          <a:prstGeom prst="rect">
            <a:avLst/>
          </a:prstGeom>
        </p:spPr>
      </p:pic>
    </p:spTree>
    <p:extLst>
      <p:ext uri="{BB962C8B-B14F-4D97-AF65-F5344CB8AC3E}">
        <p14:creationId xmlns:p14="http://schemas.microsoft.com/office/powerpoint/2010/main" val="3520739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DE31-CBDF-E733-6E0A-B13325599C2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E591EE4-9E3E-BFFE-D3B4-D039A4C3F1E0}"/>
              </a:ext>
            </a:extLst>
          </p:cNvPr>
          <p:cNvSpPr>
            <a:spLocks noGrp="1"/>
          </p:cNvSpPr>
          <p:nvPr>
            <p:ph type="body" idx="1"/>
          </p:nvPr>
        </p:nvSpPr>
        <p:spPr>
          <a:xfrm>
            <a:off x="838200" y="1825625"/>
            <a:ext cx="10515600" cy="2925279"/>
          </a:xfrm>
        </p:spPr>
        <p:txBody>
          <a:bodyPr>
            <a:normAutofit fontScale="85000" lnSpcReduction="10000"/>
          </a:bodyPr>
          <a:lstStyle/>
          <a:p>
            <a:pPr marL="114300" indent="0" algn="just">
              <a:lnSpc>
                <a:spcPct val="150000"/>
              </a:lnSpc>
              <a:buNone/>
            </a:pPr>
            <a:r>
              <a:rPr lang="en-US" sz="2400" dirty="0">
                <a:latin typeface="Times New Roman" panose="02020603050405020304" pitchFamily="18" charset="0"/>
                <a:cs typeface="Times New Roman" panose="02020603050405020304" pitchFamily="18" charset="0"/>
              </a:rPr>
              <a:t>This project helped understand how data can tell a story about the music store’s performance. By using SQL, we explored customer spending habits, popular genres, top albums, and overall sales trends. The analysis also showed which employees contributed the most to sales and what kind of music people love listening to. These insights can help the store plan better marketing ideas, manage inventory smarter, and improve customer experience. Overall, the project proved that SQL is a powerful tool for making data-driven business decisions.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147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A274-4D6A-2725-0492-A0801CA5BBC8}"/>
              </a:ext>
            </a:extLst>
          </p:cNvPr>
          <p:cNvSpPr>
            <a:spLocks noGrp="1"/>
          </p:cNvSpPr>
          <p:nvPr>
            <p:ph type="title"/>
          </p:nvPr>
        </p:nvSpPr>
        <p:spPr>
          <a:xfrm>
            <a:off x="974034" y="367747"/>
            <a:ext cx="10379765" cy="1322941"/>
          </a:xfrm>
        </p:spPr>
        <p:txBody>
          <a:bodyPr>
            <a:noAutofit/>
          </a:bodyPr>
          <a:lstStyle/>
          <a:p>
            <a:r>
              <a:rPr lang="en-US" sz="3600" b="1" dirty="0">
                <a:latin typeface="Times New Roman" panose="02020603050405020304" pitchFamily="18" charset="0"/>
                <a:cs typeface="Times New Roman" panose="02020603050405020304" pitchFamily="18" charset="0"/>
              </a:rPr>
              <a:t>Our Experience/Challenges working on SQL – Data Analysis Project.</a:t>
            </a: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82EB8E5-0F38-28F9-9D26-20E09797E484}"/>
              </a:ext>
            </a:extLst>
          </p:cNvPr>
          <p:cNvSpPr>
            <a:spLocks noGrp="1"/>
          </p:cNvSpPr>
          <p:nvPr>
            <p:ph type="body" idx="1"/>
          </p:nvPr>
        </p:nvSpPr>
        <p:spPr>
          <a:xfrm>
            <a:off x="838200" y="1825625"/>
            <a:ext cx="10515600" cy="3621018"/>
          </a:xfrm>
        </p:spPr>
        <p:txBody>
          <a:bodyPr>
            <a:normAutofit fontScale="92500"/>
          </a:bodyPr>
          <a:lstStyle/>
          <a:p>
            <a:pPr marL="114300" indent="0" algn="just">
              <a:lnSpc>
                <a:spcPct val="150000"/>
              </a:lnSpc>
              <a:buNone/>
            </a:pPr>
            <a:r>
              <a:rPr lang="en-US" sz="2200" dirty="0">
                <a:latin typeface="Times New Roman" panose="02020603050405020304" pitchFamily="18" charset="0"/>
                <a:cs typeface="Times New Roman" panose="02020603050405020304" pitchFamily="18" charset="0"/>
              </a:rPr>
              <a:t>Working on the SQL Data Analysis project gave hands-on experience in writing complex queries and understanding real-world database relationships. It improved our ability to connect multiple tables, extract useful insights, and visualize data meaningfully.</a:t>
            </a:r>
          </a:p>
          <a:p>
            <a:pPr marL="114300" indent="0" algn="just">
              <a:lnSpc>
                <a:spcPct val="150000"/>
              </a:lnSpc>
              <a:buNone/>
            </a:pPr>
            <a:r>
              <a:rPr lang="en-US" sz="2200" dirty="0">
                <a:latin typeface="Times New Roman" panose="02020603050405020304" pitchFamily="18" charset="0"/>
                <a:cs typeface="Times New Roman" panose="02020603050405020304" pitchFamily="18" charset="0"/>
              </a:rPr>
              <a:t>However, we faced a few challenges—like handling large data joins, ensuring accurate results while grouping and aggregating data, and interpreting relationships between multiple tables. Overcoming these helped us strengthen our problem-solving skills and deepen our understanding of SQL and data analysis.</a:t>
            </a:r>
          </a:p>
          <a:p>
            <a:pPr marL="114300" indent="0" algn="just">
              <a:lnSpc>
                <a:spcPct val="150000"/>
              </a:lnSpc>
              <a:buNone/>
            </a:pPr>
            <a:endParaRPr lang="en-US" dirty="0">
              <a:latin typeface="Times New Roman" panose="02020603050405020304" pitchFamily="18" charset="0"/>
              <a:cs typeface="Times New Roman" panose="02020603050405020304" pitchFamily="18" charset="0"/>
            </a:endParaRPr>
          </a:p>
          <a:p>
            <a:pPr marL="114300" indent="0" algn="just">
              <a:lnSpc>
                <a:spcPct val="150000"/>
              </a:lnSpc>
              <a:buNone/>
            </a:pPr>
            <a:endParaRPr lang="en-IN" dirty="0"/>
          </a:p>
        </p:txBody>
      </p:sp>
    </p:spTree>
    <p:extLst>
      <p:ext uri="{BB962C8B-B14F-4D97-AF65-F5344CB8AC3E}">
        <p14:creationId xmlns:p14="http://schemas.microsoft.com/office/powerpoint/2010/main" val="3186890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2405</TotalTime>
  <Words>831</Words>
  <Application>Microsoft Office PowerPoint</Application>
  <PresentationFormat>Widescreen</PresentationFormat>
  <Paragraphs>88</Paragraphs>
  <Slides>17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Wingdings</vt:lpstr>
      <vt:lpstr>Times New Roman</vt:lpstr>
      <vt:lpstr>Arial</vt:lpstr>
      <vt:lpstr>Calibri</vt:lpstr>
      <vt:lpstr>Libre Baskerville</vt:lpstr>
      <vt:lpstr>Office Theme</vt:lpstr>
      <vt:lpstr>PowerPoint Presentation</vt:lpstr>
      <vt:lpstr>Agenda</vt:lpstr>
      <vt:lpstr>PowerPoint Presentation</vt:lpstr>
      <vt:lpstr> Objective of the Project </vt:lpstr>
      <vt:lpstr> ER Diagram and schema explanation </vt:lpstr>
      <vt:lpstr>SQL query results with screenshots or summaries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Our Experience/Challenges working on SQL – Data Analysis Project.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Pravallika Reddy</cp:lastModifiedBy>
  <cp:revision>10</cp:revision>
  <dcterms:created xsi:type="dcterms:W3CDTF">2021-02-16T05:19:01Z</dcterms:created>
  <dcterms:modified xsi:type="dcterms:W3CDTF">2025-10-18T05:49:21Z</dcterms:modified>
</cp:coreProperties>
</file>